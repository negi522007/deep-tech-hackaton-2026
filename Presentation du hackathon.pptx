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7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7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E118-5294-E146-2267-727526AC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D1380-8CB8-1EFF-4252-E06025ABE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32238-C31C-6C13-4FA9-10DE8BAC4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22E8A-96B6-428A-E85F-2AF8E2B4E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21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BED4-96AC-F1C9-CCF2-87CE9A42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629D3-28C5-7870-F618-09ACD976E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34509-4484-9CB8-FD58-42D40446F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67CA2-B2DC-B610-EAAD-A11A62CE1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73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E85D26">
              <a:alpha val="10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182880"/>
            <a:ext cx="2286000" cy="2286000"/>
          </a:xfrm>
          <a:prstGeom prst="ellipse">
            <a:avLst/>
          </a:prstGeom>
          <a:solidFill>
            <a:srgbClr val="E85D26">
              <a:alpha val="18000"/>
            </a:srgbClr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D'INNOVATION INDUSTRIELLE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Industrial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 Intelligence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Spare Parts Innovation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26060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2606040" cy="5486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3474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926080"/>
            <a:ext cx="26060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2926080"/>
            <a:ext cx="2606040" cy="5486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54680" y="3474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/ équipe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926080"/>
            <a:ext cx="26060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2926080"/>
            <a:ext cx="2606040" cy="5486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89320" y="3474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obligatoire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académique &amp; innovation technologique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PROBLÉMATIQUE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ce Hackathon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industries font face à des défis critiques de maintenance qui coûtent des millions chaque année 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64008" cy="5029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755648"/>
            <a:ext cx="301752" cy="301752"/>
          </a:xfrm>
          <a:prstGeom prst="ellipse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0078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d'arrêt des machines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911096"/>
            <a:ext cx="0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70078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pannes non anticipées paralysent la production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64008" cy="5029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1208" y="2350008"/>
            <a:ext cx="301752" cy="301752"/>
          </a:xfrm>
          <a:prstGeom prst="ellipse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23500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951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difficile des pièces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2505456"/>
            <a:ext cx="0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229514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documentation, trouver la bonne pièce prend du temps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852928"/>
            <a:ext cx="64008" cy="5029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2944368"/>
            <a:ext cx="301752" cy="301752"/>
          </a:xfrm>
          <a:prstGeom prst="ellipse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29443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8895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lent des pièces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099816"/>
            <a:ext cx="0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66160" y="288950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aux importations &amp; délais d'approvisionnement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422665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3422665"/>
            <a:ext cx="64008" cy="5029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1208" y="3514105"/>
            <a:ext cx="301752" cy="301752"/>
          </a:xfrm>
          <a:prstGeom prst="ellipse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1208" y="3514105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459241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</a:t>
            </a:r>
            <a:r>
              <a:rPr lang="en-US" sz="11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données </a:t>
            </a:r>
            <a:r>
              <a:rPr lang="en-US" sz="11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prédictives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20440" y="3669553"/>
            <a:ext cx="0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66160" y="3459241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d'anticiper les pannes sans collecte structurée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062745"/>
            <a:ext cx="8412480" cy="256032"/>
          </a:xfrm>
          <a:prstGeom prst="rect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4062745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: imaginer une solution digitale intelligente pour améliorer la maintenance industrielle et la gestion des pièces.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LE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Concevoir une plateforme numérique capable de 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64008" cy="914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444752"/>
            <a:ext cx="384048" cy="384048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35331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et gérer les équipements industriels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64008" cy="914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73752" y="1444752"/>
            <a:ext cx="384048" cy="384048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7375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67528" y="135331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et documenter les pannes en temps réel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1148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64008" cy="914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" y="2542032"/>
            <a:ext cx="384048" cy="384048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45059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des preuves visuelles (photos / scans 3D)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41148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64008" cy="914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73752" y="2542032"/>
            <a:ext cx="384048" cy="384048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7375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67528" y="245059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demandes de pièces de rechange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41148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383280"/>
            <a:ext cx="64008" cy="914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" y="3639312"/>
            <a:ext cx="384048" cy="384048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354787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workflows de réparation étape par étape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3383280"/>
            <a:ext cx="41148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64008" cy="914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73752" y="3639312"/>
            <a:ext cx="384048" cy="384048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67528" y="354787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données analytiques et prédictives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ATTENDU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que les équipes doivent développer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complète de type PWA (Progressive Web App) — compatible mobile &amp; desktop 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01168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0116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équipements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2139696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catégoriser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fabricant et date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d'achat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fiche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dédiée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87168" y="1600200"/>
            <a:ext cx="201168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1600200"/>
            <a:ext cx="20116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2928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des pannes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92024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Formulaire, sévérité, horodatage, statut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600200"/>
            <a:ext cx="201168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1600200"/>
            <a:ext cx="20116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74336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visuelle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0016" y="192024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guidées multi-angles (obligatoire)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600200"/>
            <a:ext cx="201168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9984" y="1600200"/>
            <a:ext cx="20116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03136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95744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pièces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21424" y="192024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liée à la panne, urgence, suivi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" y="338328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4904" y="3383280"/>
            <a:ext cx="26974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8056" y="3383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workflows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" y="370332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hhhh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82112" y="338328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82112" y="3383280"/>
            <a:ext cx="26974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55264" y="3383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47872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73552" y="370332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globale, assignation de tâches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338328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89320" y="3383280"/>
            <a:ext cx="26974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62472" y="3383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analytique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70332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Tendances, pannes fréquentes, insights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1188720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49440" y="11887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&amp; Desktop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ADB44-FDDB-B6BA-5C73-A6CDA505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64DD2B9-DFDB-BFB7-6AD9-2E1549F5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239" b="4239"/>
          <a:stretch>
            <a:fillRect/>
          </a:stretch>
        </p:blipFill>
        <p:spPr>
          <a:xfrm>
            <a:off x="0" y="-251460"/>
            <a:ext cx="9144000" cy="5394960"/>
          </a:xfrm>
          <a:prstGeom prst="rect">
            <a:avLst/>
          </a:prstGeom>
        </p:spPr>
      </p:pic>
      <p:sp>
        <p:nvSpPr>
          <p:cNvPr id="43" name="Text 41">
            <a:extLst>
              <a:ext uri="{FF2B5EF4-FFF2-40B4-BE49-F238E27FC236}">
                <a16:creationId xmlns:a16="http://schemas.microsoft.com/office/drawing/2014/main" id="{8A5E7CF1-16B8-29CE-F348-B84CB77D30C3}"/>
              </a:ext>
            </a:extLst>
          </p:cNvPr>
          <p:cNvSpPr/>
          <p:nvPr/>
        </p:nvSpPr>
        <p:spPr>
          <a:xfrm>
            <a:off x="8412480" y="49623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689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1718C-3A35-36D4-636C-D9C3CEED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41">
            <a:extLst>
              <a:ext uri="{FF2B5EF4-FFF2-40B4-BE49-F238E27FC236}">
                <a16:creationId xmlns:a16="http://schemas.microsoft.com/office/drawing/2014/main" id="{C3A1CD50-7665-D544-4759-52401CFA8A8E}"/>
              </a:ext>
            </a:extLst>
          </p:cNvPr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DBF7B-B854-EDAF-FB76-6527D9CB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81" y="0"/>
            <a:ext cx="7821638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66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INTELLIGENCE &amp;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Exigence Critique : Données Structurées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n'est pas seulement opérationnelle — c'est un outil d'intelligence industrielle 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008" cy="7772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801368"/>
            <a:ext cx="347472" cy="347472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73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fréquentes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équipements les plus fragiles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64008" cy="7772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" y="2761488"/>
            <a:ext cx="347472" cy="347472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6334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défaillants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29535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les machines par taux de panne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64008" cy="7772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3721608"/>
            <a:ext cx="347472" cy="347472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5935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les + demandées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39136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stocks critiques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60020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600200"/>
            <a:ext cx="64008" cy="7772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47488" y="1801368"/>
            <a:ext cx="347472" cy="347472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7488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1673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maintenance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0" y="1993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cycles et saisonnalités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5603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92040" y="2560320"/>
            <a:ext cx="64008" cy="7772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47488" y="2761488"/>
            <a:ext cx="347472" cy="347472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47488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26334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entreprise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0" y="29535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inter-organisations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Vision : construire une plateforme capable d'anticiper les besoins industriels à long terme.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962381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OBLIGATOIRE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 moins 1 fonctionnalité innovante par équipe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Allez au-delà du socle technique — c'est ici que votre équipe peut faire la différence 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" y="1636776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153619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prédictive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828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d'anticipation des pannes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81328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481328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55464" y="1636776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55464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153619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76088" y="1828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des défauts visuels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276856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276856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" y="2432304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233172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tracking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62432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rapide des équipements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276856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276856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55464" y="2432304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76088" y="233172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pièces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262432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intelligentes basées sur l'historique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072384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072384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" y="3227832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6968" y="312724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" y="34198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sans connexion, sync différée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072384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3072384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55464" y="3227832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5464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76088" y="312724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vocal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76088" y="34198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de panne à la voix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867912"/>
            <a:ext cx="41148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3867912"/>
            <a:ext cx="54864" cy="65836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" y="4023360"/>
            <a:ext cx="329184" cy="329184"/>
          </a:xfrm>
          <a:prstGeom prst="ellipse">
            <a:avLst/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6344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86968" y="392277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des stocks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6968" y="421538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des besoins en pièces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RECOMMANDÉES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Technique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Orientations techniques suggérées — libre choix de l'équipe 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011680" cy="3182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01168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01168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00984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3009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1572768"/>
            <a:ext cx="2011680" cy="3182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4600" y="1572768"/>
            <a:ext cx="201168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14600" y="1572768"/>
            <a:ext cx="201168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0604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2679192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5176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3300984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3009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Supabase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2011680" cy="3182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201168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572768"/>
            <a:ext cx="20116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679192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1572768"/>
            <a:ext cx="2011680" cy="3182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12280" y="1572768"/>
            <a:ext cx="201168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12280" y="1572768"/>
            <a:ext cx="2011680" cy="54864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0372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Vision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49440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2679192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4944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3300984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49440" y="33009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3922776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49440" y="39227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APIs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obligatoire — accès caméra, installable sur mobile, compatible desktop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LIVRABLES &amp; ÉVALUATION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Livrables attendus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618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fonctionnel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636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complète et démontrable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41148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0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4323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organisé avec README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41148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9992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9992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3009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model, composants 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67912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867912"/>
            <a:ext cx="41148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867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8679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— 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69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devant le jury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749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Critères d'évaluation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1261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du problème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43800" y="1362456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43800" y="1362456"/>
            <a:ext cx="877824" cy="16459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32520" y="1261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1737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43800" y="1837944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43800" y="1837944"/>
            <a:ext cx="1097280" cy="16459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32520" y="17373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données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43800" y="2313432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43800" y="2313432"/>
            <a:ext cx="658368" cy="164592"/>
          </a:xfrm>
          <a:prstGeom prst="rect">
            <a:avLst/>
          </a:prstGeom>
          <a:solidFill>
            <a:srgbClr val="C44E1A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732520" y="22128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26883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43800" y="2788920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43800" y="2788920"/>
            <a:ext cx="43891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732520" y="26883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31638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technique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3264408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43800" y="3264408"/>
            <a:ext cx="658368" cy="164592"/>
          </a:xfrm>
          <a:prstGeom prst="rect">
            <a:avLst/>
          </a:prstGeom>
          <a:solidFill>
            <a:srgbClr val="C44E1A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32520" y="31638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36393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43800" y="3739896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43800" y="3739896"/>
            <a:ext cx="43891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32520" y="36393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0" y="4114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543800" y="4215384"/>
            <a:ext cx="1097280" cy="164592"/>
          </a:xfrm>
          <a:prstGeom prst="rect">
            <a:avLst/>
          </a:prstGeom>
          <a:solidFill>
            <a:srgbClr val="E2E0D8"/>
          </a:solidFill>
          <a:ln w="1270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543800" y="4215384"/>
            <a:ext cx="219456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732520" y="4114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182880"/>
            <a:ext cx="4114800" cy="4114800"/>
          </a:xfrm>
          <a:prstGeom prst="ellipse">
            <a:avLst/>
          </a:prstGeom>
          <a:solidFill>
            <a:srgbClr val="E85D26">
              <a:alpha val="9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914400"/>
            <a:ext cx="2560320" cy="2560320"/>
          </a:xfrm>
          <a:prstGeom prst="ellipse">
            <a:avLst/>
          </a:prstGeom>
          <a:solidFill>
            <a:srgbClr val="E85D26">
              <a:alpha val="16000"/>
            </a:srgbClr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FINALE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du Hackathon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0292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54864" cy="5486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" y="1289304"/>
            <a:ext cx="301752" cy="301752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" y="12893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2618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cycle de vie complet des équipements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37944"/>
            <a:ext cx="50292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837944"/>
            <a:ext cx="54864" cy="5486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" y="1956816"/>
            <a:ext cx="301752" cy="301752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" y="195681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19293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et exploiter les données de maintenance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50292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505456"/>
            <a:ext cx="54864" cy="5486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" y="2624328"/>
            <a:ext cx="301752" cy="301752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" y="26243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5968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les preuves visuelles aux pannes réelles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50292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172968"/>
            <a:ext cx="54864" cy="5486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" y="3291840"/>
            <a:ext cx="301752" cy="301752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" y="32918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2644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la gestion des pièces de rechange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50292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54864" cy="5486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" y="3959352"/>
            <a:ext cx="301752" cy="301752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" y="39593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3931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insights exploitables pour la décision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11224"/>
          </a:solidFill>
          <a:ln w="12700">
            <a:solidFill>
              <a:srgbClr val="111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5537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Construire l'avenir de l'intelligence industrielle dans les économies émergentes.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864608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86460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heures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490472" y="4864608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90472" y="48646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participants par </a:t>
            </a:r>
            <a:r>
              <a:rPr lang="en-US" sz="850" b="1" dirty="0" err="1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026664" y="4864608"/>
            <a:ext cx="1179576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26664" y="486460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prototype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315968" y="4864608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15968" y="4864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innovation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690</Words>
  <Application>Microsoft Office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Industrial Asset Intelligence Hackathon</dc:title>
  <dc:subject>PptxGenJS Presentation</dc:subject>
  <dc:creator>PptxGenJS</dc:creator>
  <cp:lastModifiedBy>Soriane Prudencio</cp:lastModifiedBy>
  <cp:revision>3</cp:revision>
  <dcterms:created xsi:type="dcterms:W3CDTF">2026-06-04T09:29:57Z</dcterms:created>
  <dcterms:modified xsi:type="dcterms:W3CDTF">2026-06-04T14:23:50Z</dcterms:modified>
</cp:coreProperties>
</file>